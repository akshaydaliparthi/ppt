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9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0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0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3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6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5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7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8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2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03EF397C-15AC-F468-9D3D-0D45BBE125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8023" b="3306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F33EB6-98B6-D7E9-8FAD-88CD46C9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br>
              <a:rPr lang="en-US" sz="2800" b="1" dirty="0"/>
            </a:br>
            <a:r>
              <a:rPr lang="en-US" sz="2800" b="1" dirty="0"/>
              <a:t>Title:</a:t>
            </a:r>
            <a:r>
              <a:rPr lang="en-US" sz="2800" dirty="0"/>
              <a:t> Bakery </a:t>
            </a:r>
            <a:r>
              <a:rPr lang="en-US" sz="2800" dirty="0">
                <a:solidFill>
                  <a:schemeClr val="bg1"/>
                </a:solidFill>
              </a:rPr>
              <a:t>Sales</a:t>
            </a:r>
            <a:r>
              <a:rPr lang="en-US" sz="2800" dirty="0"/>
              <a:t> and Profit </a:t>
            </a:r>
            <a:r>
              <a:rPr lang="en-US" sz="2800" dirty="0">
                <a:solidFill>
                  <a:schemeClr val="bg1"/>
                </a:solidFill>
              </a:rPr>
              <a:t>Analysis</a:t>
            </a:r>
            <a:br>
              <a:rPr lang="en-US" sz="2800" dirty="0"/>
            </a:br>
            <a:endParaRPr lang="en-IN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A3615-7D57-AE58-48D1-F57F590FB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Subtitle:</a:t>
            </a:r>
            <a:r>
              <a:rPr lang="en-US" sz="2400" dirty="0"/>
              <a:t> Insights from Power BI Dashboard</a:t>
            </a:r>
            <a:br>
              <a:rPr lang="en-US" sz="2400" dirty="0"/>
            </a:br>
            <a:r>
              <a:rPr lang="en-US" sz="2400" b="1" dirty="0"/>
              <a:t>Presented by:</a:t>
            </a:r>
            <a:r>
              <a:rPr lang="en-US" sz="2400" dirty="0"/>
              <a:t> [Your Name]</a:t>
            </a:r>
            <a:br>
              <a:rPr lang="en-US" sz="2400" dirty="0"/>
            </a:br>
            <a:r>
              <a:rPr lang="en-US" sz="2400" b="1" dirty="0"/>
              <a:t>Date:</a:t>
            </a:r>
            <a:r>
              <a:rPr lang="en-US" sz="2400" dirty="0"/>
              <a:t> April 2025</a:t>
            </a:r>
            <a:br>
              <a:rPr lang="en-US" sz="2400" dirty="0"/>
            </a:br>
            <a:endParaRPr lang="en-IN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974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BD735-8EA4-487F-87B9-36925D17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sz="3300" b="1"/>
              <a:t> Overview of the Dashboard</a:t>
            </a:r>
            <a:br>
              <a:rPr lang="en-US" sz="3300" b="1"/>
            </a:br>
            <a:endParaRPr lang="en-IN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71C47-381D-4DFE-AD95-9B4EDC02D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 b="1"/>
              <a:t>Objective:</a:t>
            </a:r>
            <a:r>
              <a:rPr lang="en-US" sz="1800"/>
              <a:t> To analyze the sales and profit performance of Bakery category across multiple cities.</a:t>
            </a:r>
            <a:br>
              <a:rPr lang="en-US" sz="1800"/>
            </a:br>
            <a:r>
              <a:rPr lang="en-US" sz="1800" b="1"/>
              <a:t>Total Cities Covered:</a:t>
            </a:r>
            <a:r>
              <a:rPr lang="en-US" sz="1800"/>
              <a:t> 24</a:t>
            </a:r>
            <a:br>
              <a:rPr lang="en-US" sz="1800"/>
            </a:br>
            <a:r>
              <a:rPr lang="en-US" sz="1800" b="1"/>
              <a:t>Total Profit:</a:t>
            </a:r>
            <a:r>
              <a:rPr lang="en-US" sz="1800"/>
              <a:t> ₹3.75 Million</a:t>
            </a:r>
            <a:br>
              <a:rPr lang="en-US" sz="1800"/>
            </a:br>
            <a:r>
              <a:rPr lang="en-US" sz="1800" b="1"/>
              <a:t>Focus Category (Bakery):</a:t>
            </a:r>
            <a:r>
              <a:rPr lang="en-US" sz="1800"/>
              <a:t> Filtered from available food categories</a:t>
            </a:r>
            <a:br>
              <a:rPr lang="en-US" sz="1800"/>
            </a:br>
            <a:endParaRPr lang="en-IN" sz="1800"/>
          </a:p>
        </p:txBody>
      </p:sp>
      <p:pic>
        <p:nvPicPr>
          <p:cNvPr id="7" name="Graphic 6" descr="City">
            <a:extLst>
              <a:ext uri="{FF2B5EF4-FFF2-40B4-BE49-F238E27FC236}">
                <a16:creationId xmlns:a16="http://schemas.microsoft.com/office/drawing/2014/main" id="{BB3F4D9D-ADDA-E6FD-A133-A0C7B7060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7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A9B46-9686-88DC-8728-7492DD6F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 sz="3300" b="1"/>
              <a:t>Sales by Category</a:t>
            </a:r>
            <a:br>
              <a:rPr lang="en-US" sz="3300" b="1"/>
            </a:br>
            <a:r>
              <a:rPr lang="en-US" sz="3300" b="1"/>
              <a:t>Chart Type:</a:t>
            </a:r>
            <a:r>
              <a:rPr lang="en-US" sz="3300"/>
              <a:t> Bar Chart</a:t>
            </a:r>
            <a:br>
              <a:rPr lang="en-US" sz="3300"/>
            </a:br>
            <a:endParaRPr lang="en-IN" sz="3300"/>
          </a:p>
        </p:txBody>
      </p:sp>
      <p:pic>
        <p:nvPicPr>
          <p:cNvPr id="7" name="Graphic 6" descr="Pie chart">
            <a:extLst>
              <a:ext uri="{FF2B5EF4-FFF2-40B4-BE49-F238E27FC236}">
                <a16:creationId xmlns:a16="http://schemas.microsoft.com/office/drawing/2014/main" id="{946155A1-3C00-525C-6BA6-5707775B0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78" y="2441274"/>
            <a:ext cx="3817941" cy="38179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5D12F-1964-02D5-73F3-E0A59020E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r>
              <a:rPr lang="en-US" sz="1800" b="1" dirty="0"/>
              <a:t>Chart Type:</a:t>
            </a:r>
            <a:r>
              <a:rPr lang="en-US" sz="1800" dirty="0"/>
              <a:t> Bar Chart</a:t>
            </a:r>
            <a:endParaRPr lang="en-US" sz="1800" b="1" dirty="0"/>
          </a:p>
          <a:p>
            <a:r>
              <a:rPr lang="en-US" sz="1800" b="1" dirty="0"/>
              <a:t>Key Insight:</a:t>
            </a:r>
            <a:br>
              <a:rPr lang="en-US" sz="1800" dirty="0"/>
            </a:br>
            <a:r>
              <a:rPr lang="en-US" sz="1800" dirty="0"/>
              <a:t>Bakery sales are approximately ₹2.1M.</a:t>
            </a:r>
            <a:br>
              <a:rPr lang="en-US" sz="1800" dirty="0"/>
            </a:br>
            <a:r>
              <a:rPr lang="en-US" sz="1800" dirty="0"/>
              <a:t>It ranks fourth among the categories, following Eggs, Snacks, and Food Grains.</a:t>
            </a:r>
            <a:br>
              <a:rPr lang="en-US" sz="1800" dirty="0"/>
            </a:b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1297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E7F65-6E35-F70C-589E-1BE7612E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sz="3300" b="1"/>
              <a:t> Profit Distribution by City</a:t>
            </a:r>
            <a:br>
              <a:rPr lang="en-US" sz="3300" b="1"/>
            </a:br>
            <a:endParaRPr lang="en-IN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AFA31-2BC1-EA21-1153-991CCE2E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 b="1" dirty="0"/>
              <a:t>Chart Type:</a:t>
            </a:r>
            <a:r>
              <a:rPr lang="en-US" sz="1800" dirty="0"/>
              <a:t> Pie Chart</a:t>
            </a:r>
            <a:br>
              <a:rPr lang="en-US" sz="1800" dirty="0"/>
            </a:br>
            <a:r>
              <a:rPr lang="en-US" sz="1800" b="1" dirty="0"/>
              <a:t>Insights:</a:t>
            </a:r>
            <a:br>
              <a:rPr lang="en-US" sz="1800" dirty="0"/>
            </a:br>
            <a:r>
              <a:rPr lang="en-US" sz="1800" dirty="0"/>
              <a:t>Vellore contributes the highest to the profit (₹174.07K, 4.65%).</a:t>
            </a:r>
            <a:br>
              <a:rPr lang="en-US" sz="1800" dirty="0"/>
            </a:br>
            <a:r>
              <a:rPr lang="en-US" sz="1800" dirty="0"/>
              <a:t>Other top contributors include Bodi, Kanyakumari, and </a:t>
            </a:r>
            <a:r>
              <a:rPr lang="en-US" sz="1800" dirty="0" err="1"/>
              <a:t>Perambalur</a:t>
            </a:r>
            <a:r>
              <a:rPr lang="en-US" sz="1800" dirty="0"/>
              <a:t>.</a:t>
            </a:r>
            <a:br>
              <a:rPr lang="en-US" sz="1800" dirty="0"/>
            </a:br>
            <a:br>
              <a:rPr lang="en-US" sz="1800" dirty="0"/>
            </a:br>
            <a:endParaRPr lang="en-IN" sz="1800" dirty="0"/>
          </a:p>
        </p:txBody>
      </p:sp>
      <p:pic>
        <p:nvPicPr>
          <p:cNvPr id="7" name="Graphic 6" descr="Donut Chart">
            <a:extLst>
              <a:ext uri="{FF2B5EF4-FFF2-40B4-BE49-F238E27FC236}">
                <a16:creationId xmlns:a16="http://schemas.microsoft.com/office/drawing/2014/main" id="{5EACD3A2-D165-2BF3-AC34-1291786F0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6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6D211-C3FA-AF5A-1D20-BBD5CA129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b="1" dirty="0"/>
              <a:t> Sales by City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58173-6A10-84DD-BFCA-FC1C1206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 b="1" dirty="0"/>
              <a:t>Chart Type:</a:t>
            </a:r>
            <a:r>
              <a:rPr lang="en-US" sz="1800" dirty="0"/>
              <a:t> Horizontal Bar Chart</a:t>
            </a:r>
            <a:br>
              <a:rPr lang="en-US" sz="1800" dirty="0"/>
            </a:br>
            <a:r>
              <a:rPr lang="en-US" sz="1800" b="1" dirty="0"/>
              <a:t>Insights:</a:t>
            </a:r>
            <a:br>
              <a:rPr lang="en-US" sz="1800" dirty="0"/>
            </a:br>
            <a:r>
              <a:rPr lang="en-US" sz="1800" dirty="0"/>
              <a:t>Kanyakumari leads in total sales.</a:t>
            </a:r>
            <a:br>
              <a:rPr lang="en-US" sz="1800" dirty="0"/>
            </a:br>
            <a:r>
              <a:rPr lang="en-US" sz="1800" dirty="0"/>
              <a:t>Vellore and Bodi follow closely behind.</a:t>
            </a:r>
            <a:br>
              <a:rPr lang="en-US" sz="1800" dirty="0"/>
            </a:br>
            <a:br>
              <a:rPr lang="en-US" sz="1800" dirty="0"/>
            </a:br>
            <a:endParaRPr lang="en-IN" sz="1800" dirty="0"/>
          </a:p>
        </p:txBody>
      </p:sp>
      <p:pic>
        <p:nvPicPr>
          <p:cNvPr id="5" name="Graphic 4" descr="Bar chart">
            <a:extLst>
              <a:ext uri="{FF2B5EF4-FFF2-40B4-BE49-F238E27FC236}">
                <a16:creationId xmlns:a16="http://schemas.microsoft.com/office/drawing/2014/main" id="{379E06A6-6042-26E2-9FEE-4990D1658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4585" y="1088247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3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03E21-0A78-3423-5040-BA2FBE5C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b="1" dirty="0"/>
              <a:t> Key Takeaways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46EA-86EE-6C0A-9AA0-2B95FE9C9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 b="1" dirty="0"/>
              <a:t>Strongest Cities for Bakery Sales:</a:t>
            </a:r>
            <a:r>
              <a:rPr lang="en-US" sz="1800" dirty="0"/>
              <a:t> Kanyakumari, Vellore, Bodi</a:t>
            </a:r>
            <a:br>
              <a:rPr lang="en-US" sz="1800" dirty="0"/>
            </a:br>
            <a:r>
              <a:rPr lang="en-US" sz="1800" b="1" dirty="0"/>
              <a:t>Most Profitable Cities:</a:t>
            </a:r>
            <a:r>
              <a:rPr lang="en-US" sz="1800" dirty="0"/>
              <a:t> Vellore and Bodi show consistent performance in both sales and profit.</a:t>
            </a:r>
            <a:br>
              <a:rPr lang="en-US" sz="1800" dirty="0"/>
            </a:br>
            <a:r>
              <a:rPr lang="en-US" sz="1800" b="1" dirty="0"/>
              <a:t>Potential Focus Areas:</a:t>
            </a:r>
            <a:r>
              <a:rPr lang="en-US" sz="1800" dirty="0"/>
              <a:t> Chennai and </a:t>
            </a:r>
            <a:r>
              <a:rPr lang="en-US" sz="1800" dirty="0" err="1"/>
              <a:t>Krishnagiri</a:t>
            </a:r>
            <a:r>
              <a:rPr lang="en-US" sz="1800" dirty="0"/>
              <a:t> show lower performance and may require strategic marketing.</a:t>
            </a:r>
            <a:br>
              <a:rPr lang="en-US" sz="1800" dirty="0"/>
            </a:br>
            <a:endParaRPr lang="en-IN" sz="1800" dirty="0"/>
          </a:p>
        </p:txBody>
      </p:sp>
      <p:pic>
        <p:nvPicPr>
          <p:cNvPr id="7" name="Graphic 6" descr="Cupcake">
            <a:extLst>
              <a:ext uri="{FF2B5EF4-FFF2-40B4-BE49-F238E27FC236}">
                <a16:creationId xmlns:a16="http://schemas.microsoft.com/office/drawing/2014/main" id="{8752DF64-6ECC-7D32-9916-460E5EB71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8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78F96-455E-F956-B571-1C7F266D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b="1" dirty="0"/>
              <a:t> Recommendations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4CC7C-A81D-F80B-B70B-5954B4E96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 b="1"/>
              <a:t>Invest in High Performing Cities:</a:t>
            </a:r>
            <a:r>
              <a:rPr lang="en-US" sz="1800"/>
              <a:t> Vellore, Bodi, and Kanyakumari</a:t>
            </a:r>
            <a:br>
              <a:rPr lang="en-US" sz="1800"/>
            </a:br>
            <a:r>
              <a:rPr lang="en-US" sz="1800" b="1"/>
              <a:t>Explore Growth in Underperforming Regions</a:t>
            </a:r>
            <a:br>
              <a:rPr lang="en-US" sz="1800"/>
            </a:br>
            <a:r>
              <a:rPr lang="en-US" sz="1800" b="1"/>
              <a:t>Product Mix Optimization:</a:t>
            </a:r>
            <a:r>
              <a:rPr lang="en-US" sz="1800"/>
              <a:t> Compare with top categories like Eggs and Snacks</a:t>
            </a:r>
            <a:br>
              <a:rPr lang="en-US" sz="1800"/>
            </a:br>
            <a:endParaRPr lang="en-IN" sz="1800"/>
          </a:p>
        </p:txBody>
      </p: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9D9615A5-0C05-A27D-3A7D-78805AEAA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3640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280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 Title: Bakery Sales and Profit Analysis </vt:lpstr>
      <vt:lpstr> Overview of the Dashboard </vt:lpstr>
      <vt:lpstr>Sales by Category Chart Type: Bar Chart </vt:lpstr>
      <vt:lpstr> Profit Distribution by City </vt:lpstr>
      <vt:lpstr> Sales by City </vt:lpstr>
      <vt:lpstr> Key Takeaways </vt:lpstr>
      <vt:lpstr>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Daliparthi</dc:creator>
  <cp:lastModifiedBy>Akshay Daliparthi</cp:lastModifiedBy>
  <cp:revision>1</cp:revision>
  <dcterms:created xsi:type="dcterms:W3CDTF">2025-04-13T13:02:52Z</dcterms:created>
  <dcterms:modified xsi:type="dcterms:W3CDTF">2025-04-13T13:16:03Z</dcterms:modified>
</cp:coreProperties>
</file>